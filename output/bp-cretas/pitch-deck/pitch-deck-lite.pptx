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白垩纪——食品工厂的AI管家，扫码即用，成本降90%。天使轮融资800-1200万。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张厂长的故事是30-40万家食品企业的缩影。现有方案太贵不适用，七部委政策已定硬指标。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五大催化剂在2026年同时到位：政策硬指标、AI成本暴降、食安刚需、连锁化、补贴。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白垩纪是AI Agent，不是ERP。成本1/10，部署10分钟，AI 30秒出分析。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TAM 2800亿工业软件，SAM 100亿食品MES+AI，SOM首批1万家×3万=3亿。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产品85%+完成，Web+App+小程序全端覆盖。截图均为实际运行产品。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[X]家食品工厂试用中，12个月目标50家付费。GTM：直销→渠道→裂变。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按效果付费：帮客户省/赚多少抽20-30%。客户年均节省10万→ARPU约3万。月增3家→Y1约110万。客户零风险，不见效不付费。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唯一AI Agent+食品专用平台。四大护城河：AI架构、食品深度、双赛道、数据飞轮。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天使轮800-1200万，12-18%股权。12个月50家客户+ARR100万。15分钟Demo见真章。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jpg"/><Relationship Id="rId4" Type="http://schemas.openxmlformats.org/officeDocument/2006/relationships/image" Target="../media/image8.jpg"/><Relationship Id="rId5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D3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g_cov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Oval 2"/>
          <p:cNvSpPr/>
          <p:nvPr/>
        </p:nvSpPr>
        <p:spPr>
          <a:xfrm>
            <a:off x="10515600" y="731520"/>
            <a:ext cx="1645920" cy="1645920"/>
          </a:xfrm>
          <a:prstGeom prst="ellipse">
            <a:avLst/>
          </a:prstGeom>
          <a:solidFill>
            <a:srgbClr val="E04E63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97280" y="5669280"/>
            <a:ext cx="1097280" cy="1097280"/>
          </a:xfrm>
          <a:prstGeom prst="ellipse">
            <a:avLst/>
          </a:prstGeom>
          <a:solidFill>
            <a:srgbClr val="E04E63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5029200"/>
            <a:ext cx="731520" cy="731520"/>
          </a:xfrm>
          <a:prstGeom prst="ellipse">
            <a:avLst/>
          </a:prstGeom>
          <a:solidFill>
            <a:srgbClr val="E04E63">
              <a:alpha val="15000"/>
            </a:srgbClr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828800" y="1371600"/>
            <a:ext cx="8229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Microsoft YaHei"/>
              </a:defRPr>
            </a:pPr>
            <a:r>
              <a:t>白垩纪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0" y="246888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04E63"/>
                </a:solidFill>
                <a:latin typeface="Microsoft YaHei"/>
              </a:defRPr>
            </a:pPr>
            <a:r>
              <a:t>CRETACEOUS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71600" y="320040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FFFFFF"/>
                </a:solidFill>
                <a:latin typeface="Microsoft YaHei"/>
              </a:defRPr>
            </a:pPr>
            <a:r>
              <a:t>食品工厂的 AI 管家: 扫码即用, 成本降 90%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371600" y="3931920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CCCCCC"/>
                </a:solidFill>
                <a:latin typeface="Microsoft YaHei"/>
              </a:defRPr>
            </a:pPr>
            <a:r>
              <a:t>让每一家食品企业都拥有自己的 AI 顾问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0" y="5029200"/>
            <a:ext cx="4572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E04E63"/>
                </a:solidFill>
                <a:latin typeface="Microsoft YaHei"/>
              </a:defRPr>
            </a:pPr>
            <a:r>
              <a:t>天使轮融资  |  2026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43200" y="576072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Microsoft YaHei"/>
              </a:defRPr>
            </a:pPr>
            <a:r>
              <a:t>AI Agent  |  智能决策  |  自然语言驱动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0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D32"/>
                </a:solidFill>
                <a:latin typeface="Microsoft YaHei"/>
              </a:defRPr>
            </a:pPr>
            <a:r>
              <a:t>30-40万家食品企业必须数字化 — 七部委政策驱动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1005840"/>
            <a:ext cx="2743200" cy="36576"/>
          </a:xfrm>
          <a:prstGeom prst="rect">
            <a:avLst/>
          </a:prstGeom>
          <a:solidFill>
            <a:srgbClr val="E0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57200" y="16459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04E63"/>
                </a:solidFill>
                <a:latin typeface="Microsoft YaHei"/>
              </a:defRPr>
            </a:pPr>
            <a:r>
              <a:t>22.7%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468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Microsoft YaHei"/>
              </a:defRPr>
            </a:pPr>
            <a:r>
              <a:t>食物损耗浪费率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114800" y="16459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04E63"/>
                </a:solidFill>
                <a:latin typeface="Microsoft YaHei"/>
              </a:defRPr>
            </a:pPr>
            <a:r>
              <a:t>62.6%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114800" y="2468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Microsoft YaHei"/>
              </a:defRPr>
            </a:pPr>
            <a:r>
              <a:t>仍处数字化早期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0" y="16459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800" b="1">
                <a:solidFill>
                  <a:srgbClr val="E04E63"/>
                </a:solidFill>
                <a:latin typeface="Microsoft YaHei"/>
              </a:defRPr>
            </a:pPr>
            <a:r>
              <a:t>3.2%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0" y="24688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Microsoft YaHei"/>
              </a:defRPr>
            </a:pPr>
            <a:r>
              <a:t>实现智能驱动</a:t>
            </a:r>
          </a:p>
        </p:txBody>
      </p:sp>
      <p:pic>
        <p:nvPicPr>
          <p:cNvPr id="11" name="Picture 10" descr="chart_pain_poin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3474720"/>
            <a:ext cx="5029200" cy="320040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347472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E3A5F"/>
                </a:solidFill>
                <a:latin typeface="Microsoft YaHei"/>
              </a:defRPr>
            </a:pPr>
            <a:r>
              <a:t>现有方案: 用不起 · 不适用 · 连不通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389120"/>
            <a:ext cx="5943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111D32"/>
                </a:solidFill>
                <a:latin typeface="Microsoft YaHei"/>
              </a:defRPr>
            </a:pPr>
            <a:r>
              <a:t>200人底料厂张厂长:</a:t>
            </a:r>
            <a:br/>
            <a:r>
              <a:t>Excel管30个SKU, 月损4万, 试过金蝶放弃了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4864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E04E63"/>
                </a:solidFill>
                <a:latin typeface="Microsoft YaHei"/>
              </a:defRPr>
            </a:pPr>
            <a:r>
              <a:t>七部委: 2027年 80% 数字化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0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11D32"/>
                </a:solidFill>
                <a:latin typeface="Microsoft YaHei"/>
              </a:defRPr>
            </a:pPr>
            <a:r>
              <a:t>五大催化剂打开 2026 窗口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E0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hart_why_now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8580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772400" y="137160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11D32"/>
                </a:solidFill>
                <a:latin typeface="Microsoft YaHei"/>
              </a:defRPr>
            </a:pPr>
            <a:r>
              <a:t>七部委政策</a:t>
            </a:r>
            <a:br/>
            <a:r>
              <a:t>2027年80%数字化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0" y="274320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11D32"/>
                </a:solidFill>
                <a:latin typeface="Microsoft YaHei"/>
              </a:defRPr>
            </a:pPr>
            <a:r>
              <a:t>AI成本暴降90%+</a:t>
            </a:r>
            <a:br/>
            <a:r>
              <a:t>GPT-4级能力平民化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0" y="4114800"/>
            <a:ext cx="41148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600" b="1">
                <a:solidFill>
                  <a:srgbClr val="111D32"/>
                </a:solidFill>
                <a:latin typeface="Microsoft YaHei"/>
              </a:defRPr>
            </a:pPr>
            <a:r>
              <a:t>连锁化率18→25%</a:t>
            </a:r>
            <a:br/>
            <a:r>
              <a:t>标准化需求激增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5760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04E63"/>
                </a:solidFill>
                <a:latin typeface="Microsoft YaHei"/>
              </a:defRPr>
            </a:pPr>
            <a:r>
              <a:t>政策 + 技术 + 市场三重共振 = 2026 最佳切入窗口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0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D32"/>
                </a:solidFill>
                <a:latin typeface="Microsoft YaHei"/>
              </a:defRPr>
            </a:pPr>
            <a:r>
              <a:t>AI Agent, 不是又一个 ERP — 成本 1/10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E0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arch_layer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59436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37160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04E63"/>
                </a:solidFill>
                <a:latin typeface="Microsoft YaHei"/>
              </a:defRPr>
            </a:pPr>
            <a:r>
              <a:t>1-3万/年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201168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Microsoft YaHei"/>
              </a:defRPr>
            </a:pPr>
            <a:r>
              <a:t>vs 传统 50-100万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9260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04E63"/>
                </a:solidFill>
                <a:latin typeface="Microsoft YaHei"/>
              </a:defRPr>
            </a:pPr>
            <a:r>
              <a:t>10 分钟上线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356616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Microsoft YaHei"/>
              </a:defRPr>
            </a:pPr>
            <a:r>
              <a:t>vs 6-12 个月实施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448056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04E63"/>
                </a:solidFill>
                <a:latin typeface="Microsoft YaHei"/>
              </a:defRPr>
            </a:pPr>
            <a:r>
              <a:t>30秒 AI 分析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512064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Microsoft YaHei"/>
              </a:defRPr>
            </a:pPr>
            <a:r>
              <a:t>vs 人工 1-2 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9436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3A5F"/>
                </a:solidFill>
                <a:latin typeface="Microsoft YaHei"/>
              </a:defRPr>
            </a:pPr>
            <a:r>
              <a:t>自然语言 → 意图识别(98%+) → 自主执行 → 结果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0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11D32"/>
                </a:solidFill>
                <a:latin typeface="Microsoft YaHei"/>
              </a:defRPr>
            </a:pPr>
            <a:r>
              <a:t>~2,800 亿确定性赛道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E0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hart_market_funne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59436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6858000" y="13716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E04E63"/>
                </a:solidFill>
                <a:latin typeface="Microsoft YaHei"/>
              </a:defRPr>
            </a:pPr>
            <a:r>
              <a:t>~2,800亿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0" y="21945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Microsoft YaHei"/>
              </a:defRPr>
            </a:pPr>
            <a:r>
              <a:t>TAM 工业软件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0" y="27432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E04E63"/>
                </a:solidFill>
                <a:latin typeface="Microsoft YaHei"/>
              </a:defRPr>
            </a:pPr>
            <a:r>
              <a:t>~100亿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0" y="35661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Microsoft YaHei"/>
              </a:defRPr>
            </a:pPr>
            <a:r>
              <a:t>SAM 食品MES+AI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0" y="411480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200" b="1">
                <a:solidFill>
                  <a:srgbClr val="E04E63"/>
                </a:solidFill>
                <a:latin typeface="Microsoft YaHei"/>
              </a:defRPr>
            </a:pPr>
            <a:r>
              <a:t>3.0亿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858000" y="4937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Microsoft YaHei"/>
              </a:defRPr>
            </a:pPr>
            <a:r>
              <a:t>SOM 首批1万家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3A5F"/>
                </a:solidFill>
                <a:latin typeface="Microsoft YaHei"/>
              </a:defRPr>
            </a:pPr>
            <a:r>
              <a:t>七部委政策: 2027年重点企业 80% 数字化 | CAGR 28-35%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0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D32"/>
                </a:solidFill>
                <a:latin typeface="Microsoft YaHei"/>
              </a:defRPr>
            </a:pPr>
            <a:r>
              <a:t>85%+ 完成，全端覆盖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E0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74320" y="11887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04E63"/>
                </a:solidFill>
                <a:latin typeface="Microsoft YaHei"/>
              </a:defRPr>
            </a:pPr>
            <a:r>
              <a:t>98%+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74320" y="2011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Microsoft YaHei"/>
              </a:defRPr>
            </a:pPr>
            <a:r>
              <a:t>AI 意图识别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00400" y="11887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04E63"/>
                </a:solidFill>
                <a:latin typeface="Microsoft YaHei"/>
              </a:defRPr>
            </a:pPr>
            <a:r>
              <a:t>95%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2011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Microsoft YaHei"/>
              </a:defRPr>
            </a:pPr>
            <a:r>
              <a:t>数据自动采集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1887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04E63"/>
                </a:solidFill>
                <a:latin typeface="Microsoft YaHei"/>
              </a:defRPr>
            </a:pPr>
            <a:r>
              <a:t>1,442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2011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Microsoft YaHei"/>
              </a:defRPr>
            </a:pPr>
            <a:r>
              <a:t>API 端点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052560" y="118872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04E63"/>
                </a:solidFill>
                <a:latin typeface="Microsoft YaHei"/>
              </a:defRPr>
            </a:pPr>
            <a:r>
              <a:t>50+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052560" y="20116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Microsoft YaHei"/>
              </a:defRPr>
            </a:pPr>
            <a:r>
              <a:t>E2E 测试通过</a:t>
            </a:r>
          </a:p>
        </p:txBody>
      </p:sp>
      <p:pic>
        <p:nvPicPr>
          <p:cNvPr id="13" name="Picture 12" descr="05-web-dashboard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2743200"/>
            <a:ext cx="3200400" cy="20116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457200" y="4800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11D32"/>
                </a:solidFill>
                <a:latin typeface="Microsoft YaHei"/>
              </a:defRPr>
            </a:pPr>
            <a:r>
              <a:t>经营驾驶舱</a:t>
            </a:r>
          </a:p>
        </p:txBody>
      </p:sp>
      <p:pic>
        <p:nvPicPr>
          <p:cNvPr id="15" name="Picture 14" descr="07-web-ai-query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2743200"/>
            <a:ext cx="3200400" cy="201168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297680" y="4800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11D32"/>
                </a:solidFill>
                <a:latin typeface="Microsoft YaHei"/>
              </a:defRPr>
            </a:pPr>
            <a:r>
              <a:t>AI 智能问答</a:t>
            </a:r>
          </a:p>
        </p:txBody>
      </p:sp>
      <p:pic>
        <p:nvPicPr>
          <p:cNvPr id="17" name="Picture 16" descr="10-web-dianping-gap.jpe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8160" y="2743200"/>
            <a:ext cx="3200400" cy="201168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8138160" y="4800600"/>
            <a:ext cx="3200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111D32"/>
                </a:solidFill>
                <a:latin typeface="Microsoft YaHei"/>
              </a:defRPr>
            </a:pPr>
            <a:r>
              <a:t>点评竞争力分析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486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3A5F"/>
                </a:solidFill>
                <a:latin typeface="Microsoft YaHei"/>
              </a:defRPr>
            </a:pPr>
            <a:r>
              <a:t>全端覆盖: Web + App + 微信小程序 | 移动端扫码即用, 零培训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0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D32"/>
                </a:solidFill>
                <a:latin typeface="Microsoft YaHei"/>
              </a:defRPr>
            </a:pPr>
            <a:r>
              <a:t>[X]家工厂试用中，12 个月目标 50 家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E0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hart_timelin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11247120" cy="256032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" y="384048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E04E63"/>
                </a:solidFill>
                <a:latin typeface="Microsoft YaHei"/>
              </a:defRPr>
            </a:pPr>
            <a:r>
              <a:t>[X]家试用 (肉制品/烘焙/调味品) | [试用反馈关键词]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46634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04E63"/>
                </a:solidFill>
                <a:latin typeface="Microsoft YaHei"/>
              </a:defRPr>
            </a:pPr>
            <a:r>
              <a:t>2026 H2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5486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Microsoft YaHei"/>
              </a:defRPr>
            </a:pPr>
            <a:r>
              <a:t>10-20家付费客户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20" y="46634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04E63"/>
                </a:solidFill>
                <a:latin typeface="Microsoft YaHei"/>
              </a:defRPr>
            </a:pPr>
            <a:r>
              <a:t>2027 H1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20" y="5486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Microsoft YaHei"/>
              </a:defRPr>
            </a:pPr>
            <a:r>
              <a:t>ARR 100万+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46720" y="4663440"/>
            <a:ext cx="3200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04E63"/>
                </a:solidFill>
                <a:latin typeface="Microsoft YaHei"/>
              </a:defRPr>
            </a:pPr>
            <a:r>
              <a:t>2027 H2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46720" y="54864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Microsoft YaHei"/>
              </a:defRPr>
            </a:pPr>
            <a:r>
              <a:t>Pre-A / A轮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603504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1E3A5F"/>
                </a:solidFill>
                <a:latin typeface="Microsoft YaHei"/>
              </a:defRPr>
            </a:pPr>
            <a:r>
              <a:t>GTM: 直销+行业展会 → 渠道合作 → 生态裂变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0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111D32"/>
                </a:solidFill>
                <a:latin typeface="Microsoft YaHei"/>
              </a:defRPr>
            </a:pPr>
            <a:r>
              <a:t>按效果付费: 节省/增收的 20-30% 抽成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14400"/>
            <a:ext cx="2743200" cy="36576"/>
          </a:xfrm>
          <a:prstGeom prst="rect">
            <a:avLst/>
          </a:prstGeom>
          <a:solidFill>
            <a:srgbClr val="E0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hart_revenue_projec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188720"/>
            <a:ext cx="6400800" cy="32004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7315200" y="13716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111D32"/>
                </a:solidFill>
                <a:latin typeface="Microsoft YaHei"/>
              </a:defRPr>
            </a:pPr>
            <a:r>
              <a:t>LTV/CAC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192024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E04E63"/>
                </a:solidFill>
                <a:latin typeface="Microsoft YaHei"/>
              </a:defRPr>
            </a:pPr>
            <a:r>
              <a:t>~18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2560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748B"/>
                </a:solidFill>
                <a:latin typeface="Microsoft YaHei"/>
              </a:defRPr>
            </a:pPr>
            <a:r>
              <a:t>远超行业3倍健康线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0" y="320040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04E63"/>
                </a:solidFill>
                <a:latin typeface="Microsoft YaHei"/>
              </a:defRPr>
            </a:pPr>
            <a:r>
              <a:t>ARPU ~3万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0" y="3749039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748B"/>
                </a:solidFill>
                <a:latin typeface="Microsoft YaHei"/>
              </a:defRPr>
            </a:pPr>
            <a:r>
              <a:t>节省10万 × 抽成25%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4297680"/>
            <a:ext cx="4572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04E63"/>
                </a:solidFill>
                <a:latin typeface="Microsoft YaHei"/>
              </a:defRPr>
            </a:pPr>
            <a:r>
              <a:t>毛利 70-80%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4846320"/>
            <a:ext cx="4572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64748B"/>
                </a:solidFill>
                <a:latin typeface="Microsoft YaHei"/>
              </a:defRPr>
            </a:pPr>
            <a:r>
              <a:t>客户零风险，不见效不付费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50292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1E3A5F"/>
                </a:solidFill>
                <a:latin typeface="Microsoft YaHei"/>
              </a:defRPr>
            </a:pPr>
            <a:r>
              <a:t>Base: 月增3家 × 3万 ≈ Y1 110万 | Upside: Y1 150万 | Y3 盈利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56692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64748B"/>
                </a:solidFill>
                <a:latin typeface="Microsoft YaHei"/>
              </a:defRPr>
            </a:pPr>
            <a:r>
              <a:t>* CAC: 直销+展会, 天使阶段无付费获客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" cy="6858000"/>
          </a:xfrm>
          <a:prstGeom prst="rect">
            <a:avLst/>
          </a:prstGeom>
          <a:solidFill>
            <a:srgbClr val="E0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7432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600" b="1">
                <a:solidFill>
                  <a:srgbClr val="111D32"/>
                </a:solidFill>
                <a:latin typeface="Microsoft YaHei"/>
              </a:defRPr>
            </a:pPr>
            <a:r>
              <a:t>唯一 AI Agent + 食品专用</a:t>
            </a:r>
          </a:p>
        </p:txBody>
      </p:sp>
      <p:sp>
        <p:nvSpPr>
          <p:cNvPr id="4" name="Rectangle 3"/>
          <p:cNvSpPr/>
          <p:nvPr/>
        </p:nvSpPr>
        <p:spPr>
          <a:xfrm>
            <a:off x="731520" y="960120"/>
            <a:ext cx="2743200" cy="36576"/>
          </a:xfrm>
          <a:prstGeom prst="rect">
            <a:avLst/>
          </a:prstGeom>
          <a:solidFill>
            <a:srgbClr val="E04E6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chart_competition_quadra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" y="1097280"/>
            <a:ext cx="6858000" cy="45720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868680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E04E63"/>
                </a:solidFill>
                <a:latin typeface="Microsoft YaHei"/>
              </a:defRPr>
            </a:pPr>
            <a:r>
              <a:t>护城河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0" y="201168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11D32"/>
                </a:solidFill>
                <a:latin typeface="Microsoft YaHei"/>
              </a:defRPr>
            </a:pPr>
            <a:r>
              <a:t>AI Agent 架构</a:t>
            </a:r>
            <a:br/>
            <a:r>
              <a:t>非管理工具+AI按钮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310896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11D32"/>
                </a:solidFill>
                <a:latin typeface="Microsoft YaHei"/>
              </a:defRPr>
            </a:pPr>
            <a:r>
              <a:t>食品深度</a:t>
            </a:r>
            <a:br/>
            <a:r>
              <a:t>259类意图全覆盖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420624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11D32"/>
                </a:solidFill>
                <a:latin typeface="Microsoft YaHei"/>
              </a:defRPr>
            </a:pPr>
            <a:r>
              <a:t>双赛道壁垒</a:t>
            </a:r>
            <a:br/>
            <a:r>
              <a:t>工厂+餐饮同一引擎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5303520"/>
            <a:ext cx="3200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111D32"/>
                </a:solidFill>
                <a:latin typeface="Microsoft YaHei"/>
              </a:defRPr>
            </a:pPr>
            <a:r>
              <a:t>数据飞轮</a:t>
            </a:r>
            <a:br/>
            <a:r>
              <a:t>更多工厂→AI更准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11D3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457200"/>
            <a:ext cx="100584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天使轮融资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74320" y="1645920"/>
            <a:ext cx="38404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04E63"/>
                </a:solidFill>
                <a:latin typeface="Microsoft YaHei"/>
              </a:defRPr>
            </a:pPr>
            <a:r>
              <a:t>800-1,200万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74320" y="2468880"/>
            <a:ext cx="38404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Microsoft YaHei"/>
              </a:defRPr>
            </a:pPr>
            <a:r>
              <a:t>融资金额 (RMB)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206240" y="1645920"/>
            <a:ext cx="3657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E04E63"/>
                </a:solidFill>
                <a:latin typeface="Microsoft YaHei"/>
              </a:defRPr>
            </a:pPr>
            <a:r>
              <a:t>12-18%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206240" y="246888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Microsoft YaHei"/>
              </a:defRPr>
            </a:pPr>
            <a:r>
              <a:t>出让股权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046720" y="1645920"/>
            <a:ext cx="39319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E04E63"/>
                </a:solidFill>
                <a:latin typeface="Microsoft YaHei"/>
              </a:defRPr>
            </a:pPr>
            <a:r>
              <a:t>5,000-8,000万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0" y="246888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4A3B8"/>
                </a:solidFill>
                <a:latin typeface="Microsoft YaHei"/>
              </a:defRPr>
            </a:pPr>
            <a:r>
              <a:t>投后估值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20040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  <a:latin typeface="Microsoft YaHei"/>
              </a:defRPr>
            </a:pPr>
            <a:r>
              <a:t>资金用途: 产品研发 40% | 销售市场 30% | 团队 20% | 储备 10%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93192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1">
                <a:solidFill>
                  <a:srgbClr val="E04E63"/>
                </a:solidFill>
                <a:latin typeface="Microsoft YaHei"/>
              </a:defRPr>
            </a:pPr>
            <a:r>
              <a:t>12个月: 50家客户 | ARR 100万+ | Pre-A/A轮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475488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  <a:latin typeface="Microsoft YaHei"/>
              </a:defRPr>
            </a:pPr>
            <a:r>
              <a:t>谢杰涛 | UCSD + Cornell AI/ML | 独立主导全栈产品 (1,442 API)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5394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E04E63"/>
                </a:solidFill>
                <a:latin typeface="Microsoft YaHei"/>
              </a:defRPr>
            </a:pPr>
            <a:r>
              <a:t>15分钟 Demo 即可见真章 | WeChat: [微信号] | [email]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28800" y="6035040"/>
            <a:ext cx="8229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0">
                <a:solidFill>
                  <a:srgbClr val="999999"/>
                </a:solidFill>
                <a:latin typeface="Microsoft YaHei"/>
              </a:defRPr>
            </a:pPr>
            <a:r>
              <a:t>白垩纪  |  食品工厂的 AI 管家  |  让每一家食品企业都拥有自己的AI顾问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