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开场：白垩纪是食品工厂的AI管家——扫码即用，成本仅为传统ERP的1/10。我们今天寻求天使轮融资。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厂长的故事就是中国30-40万家食品加工企业的缩影——用Excel管生产、保质期管理靠人记、试过ERP但工人不会用。现有方案要么太贵、要么不适用、要么连不通。七部委政策要求2027年80%数字化，这不是预测，是硬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为什么是现在而不是去年或明年？五大催化剂在2026年同时到位：七部委政策定下2027年80%数字化硬指标，AI API成本暴降让中小企业用得起，食安事件推动溯源刚需，连锁化率提升带来标准化需求，地方补贴降低采购门槛。这是一个确定性的时间窗口。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白垩纪不是又一个ERP——我们是食品工业的AI Agent平台。五大能力层从第一行代码就为食品设计，移动端扫码即用。关键差异：同一AI引擎同时服务工厂和餐饮两个赛道——餐饮模块包含大众点评竞争力雷达图、菜品四象限分析、门店对比。竞品只能做其一，我们覆盖全链。成本仅为传统方案的1/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一个需要教育市场的赛道——政策已经替我们做了。七部委联合发文要求2027年80%数字化，30-40万家食品企业必须上系统。我们瞄准的SOM是首批1万家，按效果付费均值约3万/年。餐饮赛道额外提供30-60亿的扩展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不是PPT融资——产品已经完成85%以上。1442个API端点、98%的AI识别准确率、全栈5端覆盖。右下角这张截图是大众点评竞争力分析——这是餐饮客户的杀手级功能，帮助餐饮老板一眼看到自己和竞争对手在各维度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移动端是我们的核心交互界面。一线工人打开App扫码即可开始使用，零培训成本。AI仪表盘首页直接呈现关键洞察，SmartBI提供数据分析，生产和库存模块覆盖日常操作。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目前[X]家食品工厂在试用我们的系统，覆盖肉制品、烘焙、调味品行业。12个月内目标签下50家付费客户，ARR达到100万以上。我们的优势是产品已经ready——不需要再花一年开发，可以直接推向市场验证。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定价逻辑很简单：帮你省多少/赚多少，我们抽20-30%。典型200人工厂年节省10万以上（损耗降低+效率提升+合规成本减少），我们收取2-3万。客户零风险——不见效不付费，保底月费500元仅覆盖运维。ARPU约3万/年，LTV/CAC约18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坦诚地列出了弱项——品牌知名度和线下渠道还在建设中。但核心技术能力上，市场上没有任何一家同时覆盖工厂+餐饮、拥有AI原生架构。黑湖智造只做通用制造，客如云只做餐饮收银——都没有AI分析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我们是一支技术能力极强的团队，独立完成了全栈产品开发。天使轮后核心补充食品行业经验者和销售能力。顾问席位预留给带行业资源的产业投资人或行业专家。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寻求800-1200万天使轮融资，出让12-18%股权。核心目标：12个月内签约50家付费客户，ARR达到100万以上，产出3个可公开的ROI案例。欢迎15分钟Demo，让产品说话。我们优先寻求产业型投资人——带食品行业资源的投资人，比纯财务投资人更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15600" y="731520"/>
            <a:ext cx="1645920" cy="164592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5669280"/>
            <a:ext cx="1097280" cy="109728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029200"/>
            <a:ext cx="731520" cy="73152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白垩纪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4E63"/>
                </a:solidFill>
                <a:latin typeface="Microsoft YaHei"/>
              </a:defRPr>
            </a:pPr>
            <a:r>
              <a:t>CRETACEOUS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食品工厂的 AI 管家: 扫码即用, 成本降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让每一家食品企业都拥有自己的 AI 顾问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4E63"/>
                </a:solidFill>
                <a:latin typeface="Microsoft YaHei"/>
              </a:defRPr>
            </a:pPr>
            <a:r>
              <a:t>天使轮融资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AI Agent  |  智能决策  |  自然语言驱动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中国食品加工业正面临结构性数字化断层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22.7%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食物损耗浪费率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62.6%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20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中小企业转型仍处早期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20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实现智能驱动的企业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280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55.6%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9202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数据孤岛导致决策延迟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4E63"/>
                </a:solidFill>
                <a:latin typeface="Microsoft YaHei"/>
              </a:defRPr>
            </a:pPr>
            <a:r>
              <a:t>现有方案三大结构性失败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56616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"用不起"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"不适用"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"连不通"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平均成本 50-100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通用软件不懂食品行业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单一环节数据孤岛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实施周期 6-12 个月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一线不愿用，沦为摆设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无法业务打通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本土化适配差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仅基础功能，无法提效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管理统一视图缺失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4864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Microsoft YaHei"/>
              </a:defRPr>
            </a:pPr>
            <a:r>
              <a:t>典型客户画像: 200人火锅底料厂张厂长，用Excel管30个SKU，每月因保质期漏洞损失~4万。试过金蝶，工人不会用PC端，3个月放弃。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4E63"/>
                </a:solidFill>
                <a:latin typeface="Microsoft YaHei"/>
              </a:defRPr>
            </a:pPr>
            <a:r>
              <a:t>七部委 (2025.6): 2027年重点企业80%数字化，2030年全面普及</a:t>
            </a:r>
          </a:p>
        </p:txBody>
      </p:sp>
      <p:pic>
        <p:nvPicPr>
          <p:cNvPr id="17" name="Picture 16" descr="chart_pai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60320"/>
            <a:ext cx="48463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为什么是现在? 五大催化剂正在打开窗口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why_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400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1887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defRPr sz="1600" b="0">
                <a:solidFill>
                  <a:srgbClr val="111D32"/>
                </a:solidFill>
                <a:latin typeface="Microsoft YaHei"/>
              </a:defRPr>
            </a:pPr>
            <a:r>
              <a:t>1. 七部委政策: 2027年80%数字化，30万企业必须上系统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111D32"/>
                </a:solidFill>
                <a:latin typeface="Microsoft YaHei"/>
              </a:defRPr>
            </a:pPr>
            <a:r>
              <a:t>2. AI成本暴降90%+: GPT-4级能力从千元降至分级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111D32"/>
                </a:solidFill>
                <a:latin typeface="Microsoft YaHei"/>
              </a:defRPr>
            </a:pPr>
            <a:r>
              <a:t>3. 食安事件频发: 消费者+监管双向推动溯源需求激增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111D32"/>
                </a:solidFill>
                <a:latin typeface="Microsoft YaHei"/>
              </a:defRPr>
            </a:pPr>
            <a:r>
              <a:t>4. 连锁化率18→25%: 中小企业标准化管理需求爆发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111D32"/>
                </a:solidFill>
                <a:latin typeface="Microsoft YaHei"/>
              </a:defRPr>
            </a:pPr>
            <a:r>
              <a:t>5. 数字化补贴: 地方政府对中小企业上云有专项资金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4E63"/>
                </a:solidFill>
                <a:latin typeface="Microsoft YaHei"/>
              </a:defRPr>
            </a:pPr>
            <a:r>
              <a:t>政策 + 技术 + 市场三重共振 → 2026年是最佳切入窗口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白垩纪: 食品企业的 AI Agent，成本仅为传统方案的 1/10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核心理念: 先收集数据，再成为大脑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962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智能决策引擎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自然语言→意图识别(98%+)→自主执行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数据采集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IoT+移动端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硬件自动采集+扫码录入，数据真实可信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业务管理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SaaS 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生产/质量/仓储/财务，移动端零培训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餐饮运营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餐饮垂直模块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点评雷达图+菜品四象限+门店对比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分析洞察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SmartBI+LLM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30秒出分析报告，成本/异常/趋势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arch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0584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vs 传统 ERP/MES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38912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926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白垩纪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 ERP/MES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SaaS 订阅 1-3万/年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软件许可+实施 50-100万+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部署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10分钟云端上线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6-12个月实施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移动端扫码，零培训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PC端操作，需培训数周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分析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 30秒出成本诊断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人工汇总1-2天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食品数字化是一个 ~2,800 亿元的确定性赛道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市场漏斗 (TAM/SAM/SOM)</a:t>
            </a:r>
          </a:p>
        </p:txBody>
      </p:sp>
      <p:pic>
        <p:nvPicPr>
          <p:cNvPr id="6" name="Picture 5" descr="chart_marke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3035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增长引擎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73736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驱动力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制造+AI 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$6B -&gt; $62B (2024-2032, CAGR 35%)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AI食品制造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$95亿→$908亿 (CAGR 28.5%)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七部委政策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2027年重点企业80%数字化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目标企业数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30-40万家食品加工SME (SOM: 首批1万家)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餐饮市场(扩展赛道)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5.57万亿收入, SaaS+AI渗透~30-60亿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t>海外验证: 核心可比上市公司合计市值 2.21 万亿美元 | 全球农业数字化生态 12.04 万亿美元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产品已完成 85%+，核心指标全面领先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98%+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AI意图识别准确率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数据自动采集率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合规留痕覆盖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审计成本降低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技术深度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0175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35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API 端点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1,442 个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 意图识别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98%+ (BERT+LLM 混合)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全栈覆盖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Java+Python+RN+Vue+小程序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 成本分析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Excel-&gt;图表-&gt;洞察 30秒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E2E 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50+ 全部通过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产品实拍</a:t>
            </a:r>
          </a:p>
        </p:txBody>
      </p:sp>
      <p:pic>
        <p:nvPicPr>
          <p:cNvPr id="16" name="Picture 15" descr="05-web-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17520"/>
            <a:ext cx="2743200" cy="1645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经营驾驶舱</a:t>
            </a:r>
          </a:p>
        </p:txBody>
      </p:sp>
      <p:pic>
        <p:nvPicPr>
          <p:cNvPr id="18" name="Picture 17" descr="07-web-ai-quer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017520"/>
            <a:ext cx="2743200" cy="1645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688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AI 智能问答</a:t>
            </a:r>
          </a:p>
        </p:txBody>
      </p:sp>
      <p:pic>
        <p:nvPicPr>
          <p:cNvPr id="20" name="Picture 19" descr="06-web-analysi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54880"/>
            <a:ext cx="2743200" cy="1645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智能数据分析</a:t>
            </a:r>
          </a:p>
        </p:txBody>
      </p:sp>
      <p:pic>
        <p:nvPicPr>
          <p:cNvPr id="22" name="Picture 21" descr="10-web-dianping-ga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754880"/>
            <a:ext cx="2743200" cy="1645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268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大众点评竞争力分析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移动端: 一线工人扫码即用，零培训上手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app-a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237744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52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11D32"/>
                </a:solidFill>
                <a:latin typeface="Microsoft YaHei"/>
              </a:defRPr>
            </a:pPr>
            <a:r>
              <a:t>AI 工厂仪表盘</a:t>
            </a:r>
            <a:br/>
            <a:r>
              <a:t>首页AI洞察 + 关键指标</a:t>
            </a:r>
          </a:p>
        </p:txBody>
      </p:sp>
      <p:pic>
        <p:nvPicPr>
          <p:cNvPr id="7" name="Picture 6" descr="02-app-smartbi-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237744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5852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11D32"/>
                </a:solidFill>
                <a:latin typeface="Microsoft YaHei"/>
              </a:defRPr>
            </a:pPr>
            <a:r>
              <a:t>SmartBI 数据分析</a:t>
            </a:r>
            <a:br/>
            <a:r>
              <a:t>核心KPI + 快捷操作</a:t>
            </a:r>
          </a:p>
        </p:txBody>
      </p:sp>
      <p:pic>
        <p:nvPicPr>
          <p:cNvPr id="9" name="Picture 8" descr="03-app-pro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188720"/>
            <a:ext cx="237744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5852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11D32"/>
                </a:solidFill>
                <a:latin typeface="Microsoft YaHei"/>
              </a:defRPr>
            </a:pPr>
            <a:r>
              <a:t>生产批次管理</a:t>
            </a:r>
            <a:br/>
            <a:r>
              <a:t>实时进度 + 状态追踪</a:t>
            </a:r>
          </a:p>
        </p:txBody>
      </p:sp>
      <p:pic>
        <p:nvPicPr>
          <p:cNvPr id="11" name="Picture 10" descr="04-app-inven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188720"/>
            <a:ext cx="237744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09760" y="585215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11D32"/>
                </a:solidFill>
                <a:latin typeface="Microsoft YaHei"/>
              </a:defRPr>
            </a:pPr>
            <a:r>
              <a:t>库存管理</a:t>
            </a:r>
            <a:br/>
            <a:r>
              <a:t>分类筛选 + 保质期预警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[X]家食品工厂已在试用，12 个月目标 50 家付费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已完成里程碑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2025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核心后端架构完成, PostgreSQL 迁移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2026 Q1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 意图系统上线 (98% 准确率)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2026 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移动 App 50+ E2E 测试全通过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2026 Q2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[X]家食品工厂试用中 (肉制品/烘焙/调味品)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2026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客户反馈: "[具体反馈/LOI]"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下一阶段目标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2026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10-20家付费客户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PMF 初步验证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2027 H1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ARR 100-300万元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商业模式验证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2027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3个可公开ROI案例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标杆效应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2027 H2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Pre-A/A轮融资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规模化扩张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1124712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E63"/>
                </a:solidFill>
                <a:latin typeface="Microsoft YaHei"/>
              </a:defRPr>
            </a:pPr>
            <a:r>
              <a:t>GTM 获客路径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6309360"/>
          <a:ext cx="10515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Phase 1: 直销+行业展会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Phase 2: 渠道合作+区域代理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Phase 3: 生态+口碑裂变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目标: 首批50家标杆客户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行业协会+政府园区合作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交易平台+品质码消费者触达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Result-as-a-Service: 按效果付费，成本仅为传统方案的 1/10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按效果付费 (20-30% 抽成)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收费模式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典型场景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年费参考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节省抽成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20-30%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降损耗/提效率/减人工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节省10万→付2-3万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增收分成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20-25%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AI分析驱动营收增长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增收15万→付3-4万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保底月费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500元/月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覆盖基础运维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0.6万/年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单位经济模型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459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行业基准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ARPU (年)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~3万元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按效果抽成均值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LTV (3年)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~9万元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&lt;5,000元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SaaS 1-3万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LTV/CAC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~18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&gt;3 为健康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70-80%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SaaS 65-85%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* CAC基于直销+行业展会，天使阶段无付费获客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三年营收增长路径</a:t>
            </a:r>
          </a:p>
        </p:txBody>
      </p:sp>
      <p:pic>
        <p:nvPicPr>
          <p:cNvPr id="11" name="Picture 10" descr="chart_revenue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64008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79" y="4572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defRPr sz="1600" b="1">
                <a:solidFill>
                  <a:srgbClr val="E04E63"/>
                </a:solidFill>
                <a:latin typeface="Microsoft YaHei"/>
              </a:defRPr>
            </a:pPr>
            <a:r>
              <a:t>Base Case 假设推导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月新增客户: 3→8→15家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客户年均节省 ~10万 → 抽成20-30% → ARPU ~3万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年流失率: ~15% (行业均值20-25%)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t>Base Y1: 36家 × 3万 ≈ 110万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Upside Y1: 50家 × 3万 = 150万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CAC: 直销+行业展会, 天使阶段无付费获客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唯一以AI Agent为核心的食品工业智能平台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33250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白垩纪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黑湖智造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客如云/哗啦啦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金蝶/用友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食品行业专用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中小企业定价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移动端优先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零培训上手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生产管理MES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餐饮运营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AI智能分析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IoT硬件一体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品牌知名度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低 (初创)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线下渠道覆盖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建设中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hart_competiti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14400"/>
            <a:ext cx="4114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核心护城河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1. AI Agent架构 — 不是管理工具+AI按钮，而是AI驱动的全新范式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2. 食品行业深度 — 从第一行代码为食品设计，259类意图覆盖全场景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3. 软硬一体+数据飞轮 — 自研IoT确保数据真实，更多工厂→AI更准→更多工厂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4. 双赛道壁垒 — 同一AI Agent服务工厂+餐饮，竞对只做其一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技术+行业跨学科团队，从一线需求出发推动落地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为什么是我们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创始人背景: UCSD AI/ML → Cornell 信息科学，在校期间即开始构建食品行业AI产品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执行力证明: 一人主导完成 1,442 个 API、5 端全栈、98% AI 意图识别——不是纸上谈兵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11D32"/>
                </a:solidFill>
                <a:latin typeface="Microsoft YaHei"/>
              </a:defRPr>
            </a:pPr>
            <a:r>
              <a:t>行业连接: 通过家族食品行业资源理解一线需求，产品设计源于真实工厂调研</a:t>
            </a:r>
          </a:p>
          <a:p>
            <a:pPr algn="l">
              <a:spcBef>
                <a:spcPts val="0"/>
              </a:spcBef>
              <a:defRPr sz="600" b="0">
                <a:solidFill>
                  <a:srgbClr val="111D32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E04E63"/>
                </a:solidFill>
                <a:latin typeface="Microsoft YaHei"/>
              </a:defRPr>
            </a:pPr>
            <a:r>
              <a:t>坦诚的 Gap: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缺 B2B SaaS 销售经验 → 天使轮首要补充销售负责人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缺资深食品行业 PM → 招聘计划中优先级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技术实力证明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1,442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98%+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377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AI 识别准确率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天使轮后招聘计划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5720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食品行业产品经理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1-2人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行业know-how补充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销售负责人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B2B SaaS获客体系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客户成功经理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1-2人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标杆客户深度服务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E63"/>
                </a:solidFill>
                <a:latin typeface="Microsoft YaHei"/>
              </a:defRPr>
            </a:pPr>
            <a:r>
              <a:t>核心团队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572000"/>
            <a:ext cx="1097280" cy="1371600"/>
          </a:xfrm>
          <a:prstGeom prst="rect">
            <a:avLst/>
          </a:prstGeom>
          <a:solidFill>
            <a:srgbClr val="DDDD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5029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[照片]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572000"/>
            <a:ext cx="1097280" cy="1371600"/>
          </a:xfrm>
          <a:prstGeom prst="rect">
            <a:avLst/>
          </a:prstGeom>
          <a:solidFill>
            <a:srgbClr val="DDDDDD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5029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[照片]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572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defRPr sz="1600" b="1">
                <a:solidFill>
                  <a:srgbClr val="111D32"/>
                </a:solidFill>
                <a:latin typeface="Microsoft YaHei"/>
              </a:defRPr>
            </a:pPr>
            <a:r>
              <a:t>谢杰涛 - 创始人 &amp; CEO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UCSD AI/ML + Cornell AI/信息科学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独立主导全栈产品 (1,442 API)</a:t>
            </a:r>
          </a:p>
          <a:p>
            <a:pPr algn="l">
              <a:spcBef>
                <a:spcPts val="0"/>
              </a:spcBef>
              <a:defRPr sz="400" b="0">
                <a:solidFill>
                  <a:srgbClr val="64748B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核心工程师: Cornell / UC Berkeley 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E63"/>
                </a:solidFill>
                <a:latin typeface="Microsoft YaHei"/>
              </a:defRPr>
            </a:pPr>
            <a:r>
              <a:t>顾问 Advisory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D32"/>
                </a:solidFill>
                <a:latin typeface="Microsoft YaHei"/>
              </a:defRPr>
            </a:pPr>
            <a:r>
              <a:t>[顾问姓名] — [背景/行业资源]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天使轮融资: 800-1,200 万元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800-1,200万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融资金额 (RMB)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12-18%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出让股权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5,000-8,000万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AA"/>
                </a:solidFill>
                <a:latin typeface="Microsoft YaHei"/>
              </a:defRPr>
            </a:pPr>
            <a:r>
              <a:t>投后估值 (RMB)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9260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产品研发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400万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销售市场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300万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团队扩充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200万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运营储备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100万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9260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意义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3个月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5家测试转付费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PMF信号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20家+2个ROI案例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市场验证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12个月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50家+ARR 100万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D32"/>
                          </a:solidFill>
                          <a:latin typeface="Microsoft YaHei"/>
                        </a:defRPr>
                      </a:pPr>
                      <a:r>
                        <a:t>Pre-A/A轮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10" descr="chart_fund_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37760"/>
            <a:ext cx="1124712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4E63"/>
                </a:solidFill>
                <a:latin typeface="Microsoft YaHei"/>
              </a:defRPr>
            </a:pPr>
            <a:r>
              <a:t>15分钟 Demo 即可见真章 | WeChat: [微信号] | [email]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下一轮: Pre-A / A 轮  3,000-5,000 万元 (12个月后)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白垩纪  |  食品工厂的 AI 管家  |  让每一家食品企业都拥有自己的AI顾问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